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B02EAD-07A7-48E9-B6FC-B76C76638EEB}">
  <a:tblStyle styleId="{CAB02EAD-07A7-48E9-B6FC-B76C76638E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4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3.xml"/><Relationship Id="rId32" Type="http://schemas.openxmlformats.org/officeDocument/2006/relationships/font" Target="fonts/Nuni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d242ce4a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8d242ce4a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4372b4f5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4372b4f5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4372b4f5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4372b4f5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4372b4f5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4372b4f5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4372b4f5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4372b4f5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4372b4f5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4372b4f5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4372b4f5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4372b4f5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d242ce4a7_0_1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8d242ce4a7_0_1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f9f43d43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f9f43d43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f9f43d43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f9f43d4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f9f43d43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f9f43d43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d242ce4a7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d242ce4a7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f9f43d43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f9f43d43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4372b4f5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4372b4f5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4372b4f5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4372b4f5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d242ce4a7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d242ce4a7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4372b4f5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4372b4f5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4372b4f5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4372b4f5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4372b4f5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4372b4f5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4372b4f5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4372b4f5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f9f43d43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f9f43d43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d242ce4a7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8d242ce4a7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70" y="5088"/>
            <a:ext cx="1851282" cy="752108"/>
            <a:chOff x="6917201" y="0"/>
            <a:chExt cx="2227776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51" y="4055652"/>
            <a:ext cx="2795413" cy="1083308"/>
            <a:chOff x="6917201" y="0"/>
            <a:chExt cx="2227776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6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92" name="Google Shape;92;p16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199151" y="2"/>
            <a:ext cx="2795413" cy="1083308"/>
            <a:chOff x="6917201" y="0"/>
            <a:chExt cx="2227776" cy="863400"/>
          </a:xfrm>
        </p:grpSpPr>
        <p:sp>
          <p:nvSpPr>
            <p:cNvPr id="96" name="Google Shape;96;p16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16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9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5" y="1243"/>
            <a:ext cx="3257454" cy="1261514"/>
            <a:chOff x="6917201" y="0"/>
            <a:chExt cx="2227776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3" y="4119576"/>
            <a:ext cx="2520951" cy="1024165"/>
            <a:chOff x="6917201" y="0"/>
            <a:chExt cx="2227776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51" y="2"/>
            <a:ext cx="2795413" cy="1083308"/>
            <a:chOff x="6917201" y="0"/>
            <a:chExt cx="2227776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ctrTitle"/>
          </p:nvPr>
        </p:nvSpPr>
        <p:spPr>
          <a:xfrm>
            <a:off x="311700" y="976625"/>
            <a:ext cx="85206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2682"/>
              <a:buNone/>
            </a:pPr>
            <a:r>
              <a:rPr b="1" lang="en" sz="4100"/>
              <a:t>MediAssist AI - Healthcare Guidance Platform</a:t>
            </a:r>
            <a:endParaRPr b="1" sz="4100"/>
          </a:p>
        </p:txBody>
      </p:sp>
      <p:sp>
        <p:nvSpPr>
          <p:cNvPr id="174" name="Google Shape;174;p25"/>
          <p:cNvSpPr txBox="1"/>
          <p:nvPr>
            <p:ph idx="1" type="subTitle"/>
          </p:nvPr>
        </p:nvSpPr>
        <p:spPr>
          <a:xfrm>
            <a:off x="3480975" y="2269600"/>
            <a:ext cx="47835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2300"/>
              <a:t>Team 3: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Aparna Bharathi Suresh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Pavan Srivatsav Devarakonda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Sai Naga Sanjana Chippada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Shravani Dattaram Gawade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Sujatha Deepraj Joshi 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493850" y="598375"/>
            <a:ext cx="8248200" cy="41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Built an </a:t>
            </a:r>
            <a:r>
              <a:rPr b="1" lang="en" sz="1600">
                <a:solidFill>
                  <a:srgbClr val="000000"/>
                </a:solidFill>
              </a:rPr>
              <a:t>AI Healthcare Assistant</a:t>
            </a:r>
            <a:r>
              <a:rPr lang="en" sz="1600">
                <a:solidFill>
                  <a:srgbClr val="000000"/>
                </a:solidFill>
              </a:rPr>
              <a:t> that answers non-emergency medical questions and explains prescriptions.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Addresses patient questions on </a:t>
            </a:r>
            <a:r>
              <a:rPr b="1" lang="en" sz="1600">
                <a:solidFill>
                  <a:srgbClr val="000000"/>
                </a:solidFill>
              </a:rPr>
              <a:t>medical terms, dosages, and chronic care guidance</a:t>
            </a:r>
            <a:r>
              <a:rPr lang="en" sz="1600">
                <a:solidFill>
                  <a:srgbClr val="000000"/>
                </a:solidFill>
              </a:rPr>
              <a:t>.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Reduces burden on clinicians by providing </a:t>
            </a:r>
            <a:r>
              <a:rPr b="1" lang="en" sz="1600">
                <a:solidFill>
                  <a:srgbClr val="000000"/>
                </a:solidFill>
              </a:rPr>
              <a:t>safe, accessible, on-demand support</a:t>
            </a:r>
            <a:r>
              <a:rPr lang="en" sz="1600">
                <a:solidFill>
                  <a:srgbClr val="000000"/>
                </a:solidFill>
              </a:rPr>
              <a:t>.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Fine-tuned multiple medical LLMs and selected the best model</a:t>
            </a:r>
            <a:r>
              <a:rPr b="1" lang="en" sz="1600">
                <a:solidFill>
                  <a:srgbClr val="000000"/>
                </a:solidFill>
              </a:rPr>
              <a:t> </a:t>
            </a:r>
            <a:r>
              <a:rPr lang="en" sz="1600">
                <a:solidFill>
                  <a:srgbClr val="000000"/>
                </a:solidFill>
              </a:rPr>
              <a:t>for deployment on </a:t>
            </a:r>
            <a:r>
              <a:rPr b="1" lang="en" sz="1600">
                <a:solidFill>
                  <a:srgbClr val="000000"/>
                </a:solidFill>
              </a:rPr>
              <a:t>Google Cloud</a:t>
            </a:r>
            <a:r>
              <a:rPr lang="en" sz="1600">
                <a:solidFill>
                  <a:srgbClr val="000000"/>
                </a:solidFill>
              </a:rPr>
              <a:t>.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Objective:</a:t>
            </a:r>
            <a:r>
              <a:rPr lang="en" sz="1600">
                <a:solidFill>
                  <a:srgbClr val="000000"/>
                </a:solidFill>
              </a:rPr>
              <a:t> Deliver clear, reliable, and privacy-preserving medical guidance to improve patient understanding and care.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Engineering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329925" y="372950"/>
            <a:ext cx="8391600" cy="8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Created ETL pipeline to extract </a:t>
            </a:r>
            <a:r>
              <a:rPr lang="en" sz="1800"/>
              <a:t>MIMIC III, MIMIC IV, iCliniq, MedQuAD datasets and transformed them into a single Q&amp;A dataset and stored in the GCP bucket.</a:t>
            </a:r>
            <a:endParaRPr sz="1800"/>
          </a:p>
        </p:txBody>
      </p:sp>
      <p:pic>
        <p:nvPicPr>
          <p:cNvPr id="195" name="Google Shape;1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850" y="1243850"/>
            <a:ext cx="8014277" cy="35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925" y="844275"/>
            <a:ext cx="8606674" cy="350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819150" y="661325"/>
            <a:ext cx="7505700" cy="3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</a:rPr>
              <a:t>Selected Models:</a:t>
            </a:r>
            <a:endParaRPr b="1"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1" lang="en" sz="2300">
                <a:solidFill>
                  <a:srgbClr val="000000"/>
                </a:solidFill>
              </a:rPr>
              <a:t>MedLlama3:</a:t>
            </a:r>
            <a:r>
              <a:rPr lang="en" sz="2300">
                <a:solidFill>
                  <a:srgbClr val="000000"/>
                </a:solidFill>
              </a:rPr>
              <a:t> General-purpose Q&amp;A and patient education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1" lang="en" sz="2300">
                <a:solidFill>
                  <a:srgbClr val="000000"/>
                </a:solidFill>
              </a:rPr>
              <a:t>BioMistral-7B:</a:t>
            </a:r>
            <a:r>
              <a:rPr lang="en" sz="2300">
                <a:solidFill>
                  <a:srgbClr val="000000"/>
                </a:solidFill>
              </a:rPr>
              <a:t> Biomedical knowledge retrieval and clinical research</a:t>
            </a:r>
            <a:endParaRPr sz="23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1" lang="en" sz="2200">
                <a:solidFill>
                  <a:srgbClr val="000000"/>
                </a:solidFill>
              </a:rPr>
              <a:t>MedAlpaca:</a:t>
            </a:r>
            <a:r>
              <a:rPr lang="en" sz="2200">
                <a:solidFill>
                  <a:srgbClr val="000000"/>
                </a:solidFill>
              </a:rPr>
              <a:t> Lightweight generative medical text and Q&amp;A model,</a:t>
            </a:r>
            <a:endParaRPr sz="22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1" lang="en" sz="2300">
                <a:solidFill>
                  <a:srgbClr val="000000"/>
                </a:solidFill>
              </a:rPr>
              <a:t>Meditron:</a:t>
            </a:r>
            <a:r>
              <a:rPr lang="en" sz="2300">
                <a:solidFill>
                  <a:srgbClr val="000000"/>
                </a:solidFill>
              </a:rPr>
              <a:t> Advanced medical reasoning and differential diagnosis</a:t>
            </a:r>
            <a:endParaRPr i="1"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889300" y="1792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Evaluation</a:t>
            </a:r>
            <a:r>
              <a:rPr lang="en" sz="3400"/>
              <a:t> Results</a:t>
            </a:r>
            <a:endParaRPr sz="3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4"/>
          <p:cNvPicPr preferRelativeResize="0"/>
          <p:nvPr/>
        </p:nvPicPr>
        <p:blipFill rotWithShape="1">
          <a:blip r:embed="rId3">
            <a:alphaModFix/>
          </a:blip>
          <a:srcRect b="1283" l="1329" r="899" t="0"/>
          <a:stretch/>
        </p:blipFill>
        <p:spPr>
          <a:xfrm>
            <a:off x="606788" y="231900"/>
            <a:ext cx="7930424" cy="46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25" y="264563"/>
            <a:ext cx="7827949" cy="46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275" y="218000"/>
            <a:ext cx="7807476" cy="4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25" y="204975"/>
            <a:ext cx="7991875" cy="468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819150" y="517725"/>
            <a:ext cx="7505700" cy="8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Evaluation</a:t>
            </a:r>
            <a:endParaRPr/>
          </a:p>
        </p:txBody>
      </p:sp>
      <p:graphicFrame>
        <p:nvGraphicFramePr>
          <p:cNvPr id="241" name="Google Shape;241;p38"/>
          <p:cNvGraphicFramePr/>
          <p:nvPr/>
        </p:nvGraphicFramePr>
        <p:xfrm>
          <a:off x="952500" y="147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{CAB02EAD-07A7-48E9-B6FC-B76C76638EEB}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Metric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Fine-Tuned Model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Retriever Metrics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Avg Contextual Precision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0.652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Avg Contextual Recall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0.5227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Avg Contextual Relevancy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0.4478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Generator Metrics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Faithfulness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0.5593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Answer Relevancy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0.7649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875" y="250000"/>
            <a:ext cx="8357300" cy="46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25" y="424263"/>
            <a:ext cx="8589952" cy="429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819150" y="446000"/>
            <a:ext cx="7505700" cy="6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</a:t>
            </a:r>
            <a:r>
              <a:rPr lang="en"/>
              <a:t> Avg of all the mertices</a:t>
            </a:r>
            <a:endParaRPr/>
          </a:p>
        </p:txBody>
      </p:sp>
      <p:pic>
        <p:nvPicPr>
          <p:cNvPr id="257" name="Google Shape;2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625" y="1131200"/>
            <a:ext cx="6162825" cy="37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Development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38" y="639375"/>
            <a:ext cx="8549725" cy="410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300" y="425213"/>
            <a:ext cx="5653424" cy="429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819150" y="1956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type="title"/>
          </p:nvPr>
        </p:nvSpPr>
        <p:spPr>
          <a:xfrm>
            <a:off x="819150" y="18158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