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11" Type="http://schemas.openxmlformats.org/officeDocument/2006/relationships/slide" Target="slides/slide5.xml"/><Relationship Id="rId22" Type="http://schemas.openxmlformats.org/officeDocument/2006/relationships/font" Target="fonts/Nunito-italic.fntdata"/><Relationship Id="rId10" Type="http://schemas.openxmlformats.org/officeDocument/2006/relationships/slide" Target="slides/slide4.xml"/><Relationship Id="rId21" Type="http://schemas.openxmlformats.org/officeDocument/2006/relationships/font" Target="fonts/Nuni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Nunito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d242ce4a7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8d242ce4a7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d242ce4a7_0_1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8d242ce4a7_0_1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d242ce4a7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8d242ce4a7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7715eaad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7715eaad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f9f43d43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f9f43d43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d242ce4a7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d242ce4a7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f9f43d43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f9f43d43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f9f43d43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f9f43d43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f9f43d43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9f9f43d43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d242ce4a7_0_1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8d242ce4a7_0_1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f9f43d43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f9f43d43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f9f43d43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f9f43d43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d242ce4a7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8d242ce4a7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60" name="Google Shape;60;p14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64" name="Google Shape;64;p14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7057470" y="5088"/>
            <a:ext cx="1851282" cy="752108"/>
            <a:chOff x="6917201" y="0"/>
            <a:chExt cx="2227776" cy="863400"/>
          </a:xfrm>
        </p:grpSpPr>
        <p:sp>
          <p:nvSpPr>
            <p:cNvPr id="68" name="Google Shape;68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6553032" y="4217852"/>
            <a:ext cx="2389067" cy="925737"/>
            <a:chOff x="6917201" y="0"/>
            <a:chExt cx="2227776" cy="863400"/>
          </a:xfrm>
        </p:grpSpPr>
        <p:sp>
          <p:nvSpPr>
            <p:cNvPr id="72" name="Google Shape;72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199151" y="4055652"/>
            <a:ext cx="2795413" cy="1083308"/>
            <a:chOff x="6917201" y="0"/>
            <a:chExt cx="2227776" cy="863400"/>
          </a:xfrm>
        </p:grpSpPr>
        <p:sp>
          <p:nvSpPr>
            <p:cNvPr id="76" name="Google Shape;76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14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91;p16"/>
          <p:cNvGrpSpPr/>
          <p:nvPr/>
        </p:nvGrpSpPr>
        <p:grpSpPr>
          <a:xfrm>
            <a:off x="5594191" y="3961115"/>
            <a:ext cx="2910144" cy="1182340"/>
            <a:chOff x="6917201" y="0"/>
            <a:chExt cx="2227776" cy="863400"/>
          </a:xfrm>
        </p:grpSpPr>
        <p:sp>
          <p:nvSpPr>
            <p:cNvPr id="92" name="Google Shape;92;p16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6"/>
          <p:cNvGrpSpPr/>
          <p:nvPr/>
        </p:nvGrpSpPr>
        <p:grpSpPr>
          <a:xfrm>
            <a:off x="199151" y="2"/>
            <a:ext cx="2795413" cy="1083308"/>
            <a:chOff x="6917201" y="0"/>
            <a:chExt cx="2227776" cy="863400"/>
          </a:xfrm>
        </p:grpSpPr>
        <p:sp>
          <p:nvSpPr>
            <p:cNvPr id="96" name="Google Shape;96;p16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16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9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0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20"/>
          <p:cNvGrpSpPr/>
          <p:nvPr/>
        </p:nvGrpSpPr>
        <p:grpSpPr>
          <a:xfrm>
            <a:off x="255991" y="-119"/>
            <a:ext cx="2251347" cy="1043408"/>
            <a:chOff x="3961956" y="4383950"/>
            <a:chExt cx="1160548" cy="548700"/>
          </a:xfrm>
        </p:grpSpPr>
        <p:sp>
          <p:nvSpPr>
            <p:cNvPr id="126" name="Google Shape;126;p20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0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2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20"/>
          <p:cNvGrpSpPr/>
          <p:nvPr/>
        </p:nvGrpSpPr>
        <p:grpSpPr>
          <a:xfrm>
            <a:off x="34934" y="4522125"/>
            <a:ext cx="1593305" cy="617072"/>
            <a:chOff x="6917201" y="0"/>
            <a:chExt cx="2227776" cy="863400"/>
          </a:xfrm>
        </p:grpSpPr>
        <p:sp>
          <p:nvSpPr>
            <p:cNvPr id="131" name="Google Shape;131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20"/>
          <p:cNvGrpSpPr/>
          <p:nvPr/>
        </p:nvGrpSpPr>
        <p:grpSpPr>
          <a:xfrm>
            <a:off x="5886355" y="1243"/>
            <a:ext cx="3257454" cy="1261514"/>
            <a:chOff x="6917201" y="0"/>
            <a:chExt cx="2227776" cy="863400"/>
          </a:xfrm>
        </p:grpSpPr>
        <p:sp>
          <p:nvSpPr>
            <p:cNvPr id="135" name="Google Shape;135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20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1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5" name="Google Shape;145;p21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1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" name="Google Shape;156;p23"/>
          <p:cNvGrpSpPr/>
          <p:nvPr/>
        </p:nvGrpSpPr>
        <p:grpSpPr>
          <a:xfrm>
            <a:off x="5959223" y="4119576"/>
            <a:ext cx="2520951" cy="1024165"/>
            <a:chOff x="6917201" y="0"/>
            <a:chExt cx="2227776" cy="863400"/>
          </a:xfrm>
        </p:grpSpPr>
        <p:sp>
          <p:nvSpPr>
            <p:cNvPr id="157" name="Google Shape;157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23"/>
          <p:cNvGrpSpPr/>
          <p:nvPr/>
        </p:nvGrpSpPr>
        <p:grpSpPr>
          <a:xfrm>
            <a:off x="199151" y="2"/>
            <a:ext cx="2795413" cy="1083308"/>
            <a:chOff x="6917201" y="0"/>
            <a:chExt cx="2227776" cy="863400"/>
          </a:xfrm>
        </p:grpSpPr>
        <p:sp>
          <p:nvSpPr>
            <p:cNvPr id="161" name="Google Shape;161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23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b="0" i="0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ctrTitle"/>
          </p:nvPr>
        </p:nvSpPr>
        <p:spPr>
          <a:xfrm>
            <a:off x="311700" y="976625"/>
            <a:ext cx="8520600" cy="11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2682"/>
              <a:buNone/>
            </a:pPr>
            <a:r>
              <a:rPr b="1" lang="en" sz="4100"/>
              <a:t>MediAssist AI - Healthcare Guidance Platform</a:t>
            </a:r>
            <a:endParaRPr b="1" sz="4100"/>
          </a:p>
        </p:txBody>
      </p:sp>
      <p:sp>
        <p:nvSpPr>
          <p:cNvPr id="174" name="Google Shape;174;p25"/>
          <p:cNvSpPr txBox="1"/>
          <p:nvPr>
            <p:ph idx="1" type="subTitle"/>
          </p:nvPr>
        </p:nvSpPr>
        <p:spPr>
          <a:xfrm>
            <a:off x="3480975" y="2269600"/>
            <a:ext cx="47835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2300"/>
              <a:t>Team 3: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Aparna Bharathi Suresh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Pavan Srivatsav Devarakonda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Sai Naga Sanjana Chippada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Shravani Dattaram Gawade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Sujatha Deepraj Joshi </a:t>
            </a:r>
            <a:endParaRPr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819150" y="4311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Model Selection</a:t>
            </a:r>
            <a:endParaRPr sz="3500"/>
          </a:p>
        </p:txBody>
      </p:sp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819150" y="1327300"/>
            <a:ext cx="7505700" cy="33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Selected open-source LLMs optimized for chronic disease management, ensuring accuracy, scalability, and patient engagement.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</a:rPr>
              <a:t>Selected Models:</a:t>
            </a:r>
            <a:endParaRPr b="1"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</a:rPr>
              <a:t>MedLlama3:</a:t>
            </a:r>
            <a:r>
              <a:rPr lang="en" sz="1700">
                <a:solidFill>
                  <a:srgbClr val="000000"/>
                </a:solidFill>
              </a:rPr>
              <a:t> General-purpose Q&amp;A and patient education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</a:rPr>
              <a:t>BioMistral-7B:</a:t>
            </a:r>
            <a:r>
              <a:rPr lang="en" sz="1700">
                <a:solidFill>
                  <a:srgbClr val="000000"/>
                </a:solidFill>
              </a:rPr>
              <a:t> Biomedical knowledge retrieval and clinical research</a:t>
            </a:r>
            <a:endParaRPr sz="17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</a:rPr>
              <a:t>MedAlpaca:</a:t>
            </a:r>
            <a:r>
              <a:rPr lang="en" sz="1600">
                <a:solidFill>
                  <a:srgbClr val="000000"/>
                </a:solidFill>
              </a:rPr>
              <a:t> Lightweight generative medical text and Q&amp;A model,</a:t>
            </a:r>
            <a:endParaRPr sz="16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</a:rPr>
              <a:t>Meditron:</a:t>
            </a:r>
            <a:r>
              <a:rPr lang="en" sz="1700">
                <a:solidFill>
                  <a:srgbClr val="000000"/>
                </a:solidFill>
              </a:rPr>
              <a:t> Advanced medical reasoning and differential diagnosis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rgbClr val="000000"/>
                </a:solidFill>
              </a:rPr>
              <a:t>We have currently fine-tuned the BioMistral-7B and MedAlpaca models on healthcare-specific Q/A datasets, to enhance its performance in biomedical knowledge retrieval and clinical research queries.</a:t>
            </a:r>
            <a:endParaRPr i="1" sz="1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81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8" title="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150" y="317063"/>
            <a:ext cx="6775073" cy="450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889300" y="17924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Machine Learning Results</a:t>
            </a:r>
            <a:endParaRPr sz="3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63" y="426925"/>
            <a:ext cx="8579277" cy="428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775" y="420638"/>
            <a:ext cx="8604452" cy="4302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600" y="403550"/>
            <a:ext cx="8672799" cy="433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200" y="339450"/>
            <a:ext cx="8604902" cy="435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150" y="152400"/>
            <a:ext cx="864717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819150" y="378025"/>
            <a:ext cx="75057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</a:t>
            </a:r>
            <a:endParaRPr/>
          </a:p>
        </p:txBody>
      </p:sp>
      <p:pic>
        <p:nvPicPr>
          <p:cNvPr id="226" name="Google Shape;22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975" y="918100"/>
            <a:ext cx="7602049" cy="3857674"/>
          </a:xfrm>
          <a:prstGeom prst="rect">
            <a:avLst/>
          </a:prstGeom>
          <a:noFill/>
          <a:ln cap="flat" cmpd="sng" w="9525">
            <a:solidFill>
              <a:srgbClr val="233A4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819150" y="19561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819150" y="18158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